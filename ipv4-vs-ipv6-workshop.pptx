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266"/>
  </p:normalViewPr>
  <p:slideViewPr>
    <p:cSldViewPr snapToGrid="0">
      <p:cViewPr varScale="1">
        <p:scale>
          <a:sx n="93" d="100"/>
          <a:sy n="93" d="100"/>
        </p:scale>
        <p:origin x="144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~40 min concepts, ~20 min hands-on lab. By the end they should read an IPv6 address without worry, understand why NAT isn't needed, and have configured a dual-stack link themselves. </a:t>
            </a:r>
            <a:br>
              <a:rPr lang="en-US"/>
            </a:br>
            <a:br>
              <a:rPr lang="en-US"/>
            </a:br>
            <a:r>
              <a:rPr lang="en-US"/>
              <a:t>IPv6 is additive — it cleans up what they already know, it doesn't replace it. ~1 min on this slide.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two facts matter: 32 vs 128 bits, decimal vs hex.</a:t>
            </a:r>
            <a:endParaRPr/>
          </a:p>
        </p:txBody>
      </p:sp>
      <p:sp>
        <p:nvSpPr>
          <p:cNvPr id="120" name="Google Shape;120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class exercise: shorten fe80:0000:0000:0000:0202:b3ff:fe1e:8329. ~5 min.</a:t>
            </a:r>
            <a:endParaRPr/>
          </a:p>
        </p:txBody>
      </p:sp>
      <p:sp>
        <p:nvSpPr>
          <p:cNvPr id="139" name="Google Shape;13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~6 min.</a:t>
            </a:r>
            <a:endParaRPr dirty="0"/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This is the slide the workbook leans on, so explain it properly. SLAAC: a host can configure its own global address with zero DHCP, because the lower 64 bits are the host's to choose (tie back to the /64 slide). DHCPv6 is for when you still want central control/tracking — and the two are often combined (RA for the prefix, DHCPv6 for DNS). NDP replaces ARP entirely and uses multicast not broadcast — that's the neighbor table they'll see in the lab. Walk the boot flow at the bottom left-to-right. ~5 min.</a:t>
            </a:r>
            <a:endParaRPr dirty="0"/>
          </a:p>
        </p:txBody>
      </p:sp>
      <p:sp>
        <p:nvSpPr>
          <p:cNvPr id="196" name="Google Shape;19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Walk each row as 'what disappears from my job': NAT gateways, subnet-sizing decisions, slow header processing.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IPv6 standardized IPsec but it is NOT auto-on; the real control is still the firewall / Security Group. ~7 min.</a:t>
            </a:r>
            <a:endParaRPr dirty="0"/>
          </a:p>
        </p:txBody>
      </p:sp>
      <p:sp>
        <p:nvSpPr>
          <p:cNvPr id="221" name="Google Shape;22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NAT's 'protection' was a side effect, and the default-deny stateful firewall (or Security Group) is what actually kept them safe — in v4 too. The scan-math is the fun kicker: one classic attack (sweep the subnet) simply stops scaling, so attackers pivot to DNS/logs/cert-transparency instead. ~6 min.</a:t>
            </a:r>
            <a:endParaRPr dirty="0"/>
          </a:p>
        </p:txBody>
      </p:sp>
      <p:sp>
        <p:nvSpPr>
          <p:cNvPr id="270" name="Google Shape;270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Egress-Only Internet Gateway gives NAT's exact behavioral contract (outbound yes, unsolicited inbound no) without translation or the bill; Azure/GCP have egress-firewall equivalents.  ~6 min.</a:t>
            </a:r>
            <a:endParaRPr dirty="0"/>
          </a:p>
        </p:txBody>
      </p:sp>
      <p:sp>
        <p:nvSpPr>
          <p:cNvPr id="288" name="Google Shape;28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f871ed21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f871ed21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Transition to hands-on. Everything they configure maps to a concept from the talk: dual-stack interface = 'real world is dual-stack'; ND table = 'multicast replaced broadcast'; static routes = 'route tables, simplified'; ACL bonus = 'routable ≠ reachable'. Workbook has full commands, fill-in blanks, an answer key, and a DevOps gotchas cheat sheet. Budget ~20 min; bonus is optional.</a:t>
            </a:r>
            <a:endParaRPr/>
          </a:p>
        </p:txBody>
      </p:sp>
      <p:sp>
        <p:nvSpPr>
          <p:cNvPr id="321" name="Google Shape;32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they keep only four things, these are them</a:t>
            </a:r>
            <a:r>
              <a:rPr lang="en-US"/>
              <a:t>. Take </a:t>
            </a:r>
            <a:r>
              <a:rPr lang="en-US" dirty="0"/>
              <a:t>questions. ~2 min.</a:t>
            </a:r>
            <a:endParaRPr dirty="0"/>
          </a:p>
        </p:txBody>
      </p:sp>
      <p:sp>
        <p:nvSpPr>
          <p:cNvPr id="351" name="Google Shape;351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WORKSHOP  ·  60 MINUTES  ·  DEVOPS FOUNDATIONS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IPv4 vs IPv6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2960" y="30632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for DevOps Engineers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22960" y="4251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“Don’t panic. It’s just more numbers.”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Conceptual clarity  ·  de-mystifying hex  ·  security without NAT  ·  a hands-on SR Linux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10438" y="0"/>
            <a:ext cx="12191700" cy="6858000"/>
          </a:xfrm>
          <a:prstGeom prst="rect">
            <a:avLst/>
          </a:prstGeom>
          <a:solidFill>
            <a:srgbClr val="1215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00:00 · THE HOOK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Why do we even care?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640080" y="1783080"/>
            <a:ext cx="5486400" cy="205740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14400" y="196596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14400" y="22860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IPv4 = </a:t>
            </a:r>
            <a:r>
              <a:rPr lang="en-US" sz="22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~4.3 billion</a:t>
            </a:r>
            <a:r>
              <a:rPr lang="en-US" sz="22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 addresses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29718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2³² total — fewer than people on Earth. The global free pool ran dry years ago.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40080" y="3977639"/>
            <a:ext cx="5486400" cy="205740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914400" y="416052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THE BAND-AIDS (AND THEIR COST)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14400" y="449884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NAT  ·  RFC 1918 private space  ·  CGNAT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48920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–  Per-packet translation latency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14400" y="5175503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–  Overlapping CIDRs &amp; config sprawl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14400" y="545896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–  Obscured source IPs → hard to audit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5742431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–  NAT gateways = cost &amp; throughput limits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6263640" y="1783080"/>
            <a:ext cx="5303520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THE FIX: STOP RATIONING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37960" y="242316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3.4 × 10³⁸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537960" y="3383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unique IPv6 addresses (340 undecillion)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37960" y="3840480"/>
            <a:ext cx="47548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Every grain of sand on Earth could have its own trillion addresses — and we'd barely dent the pool.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537960" y="493776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So every device, container, and pod can hold a </a:t>
            </a: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real, globally unique address</a:t>
            </a: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 — no sharing, no translation.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00:05 · THE ANATOMY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Structure — and a mental model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640080" y="178308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914400" y="19659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A98A8"/>
                </a:solidFill>
                <a:latin typeface="Calibri"/>
                <a:ea typeface="Calibri"/>
                <a:cs typeface="Calibri"/>
                <a:sym typeface="Calibri"/>
              </a:rPr>
              <a:t>IPv4  —  like a local 7-digit number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14400" y="24688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192.168.1.1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14400" y="32004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32 bits  ·  4 base-10 octets  ·  needs an operator (NAT) when two places want the same number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263640" y="1783080"/>
            <a:ext cx="5303520" cy="233172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537960" y="19659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IPv6  —  like a full international number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537960" y="242316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2001:0db8:0000:0000: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0000:8a2e:0370:7334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537960" y="36118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128 bits  ·  8 base-16 hextets  ·  globally unique, no operator needed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640080" y="4297680"/>
            <a:ext cx="10927080" cy="17373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READING THE TWO HALVES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89204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2001:0db8:85a3:1f2c</a:t>
            </a:r>
            <a:r>
              <a:rPr lang="en-US" sz="2000" b="1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  :  </a:t>
            </a:r>
            <a:r>
              <a:rPr lang="en-US" sz="20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0000:0000:8a2e:7334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network / prefix  (which LAN — like country + area code)        interface / host  (which device on it)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00:10 · THE ANATOMY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The cheat code: shrinking an address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640080" y="1737360"/>
            <a:ext cx="10972800" cy="86868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914400" y="1874519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Full:   </a:t>
            </a:r>
            <a:r>
              <a:rPr lang="en-US" sz="21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2001:0db8:0000:0000:0000:8a2e:0370:7334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40080" y="278892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508760" y="30358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Drop leading zeros in each block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508760" y="361188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:0db8:</a:t>
            </a:r>
            <a:r>
              <a:rPr lang="en-US" sz="17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70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:db8: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6217920" y="2788920"/>
            <a:ext cx="5394960" cy="155448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446520" y="3017520"/>
            <a:ext cx="457200" cy="45720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86600" y="3035808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Collapse one run of zero-blocks to ::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086600" y="361188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:0:0:0:</a:t>
            </a:r>
            <a:r>
              <a:rPr lang="en-US" sz="17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  →  </a:t>
            </a:r>
            <a:r>
              <a:rPr lang="en-US" sz="170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lang="en-US" sz="14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   (once only!)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640080" y="4572000"/>
            <a:ext cx="10972800" cy="1463040"/>
          </a:xfrm>
          <a:prstGeom prst="roundRect">
            <a:avLst>
              <a:gd name="adj" fmla="val 5000"/>
            </a:avLst>
          </a:prstGeom>
          <a:solidFill>
            <a:srgbClr val="142A1E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47365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507492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2001:db8::8a2e:370:7334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00:14 · ADDRESSES IN THE WILD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Address types &amp; the /64 convention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640080" y="1783080"/>
            <a:ext cx="5943600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91440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THE TYPES YOU'LL ACTUALLY MEET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2359152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Global Unicast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154680" y="237744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2000::/3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14400" y="264261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public &amp; routable — yes, on the host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14400" y="2967228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Link-Local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3154680" y="298551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fe80::/10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14400" y="325069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auto, every interface; used by the plumbing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3575304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Unique Local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3154680" y="3593592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fd00::/8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914400" y="385876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the v6 'private' range (≈ RFC 1918)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14400" y="418338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Multicast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3154680" y="4201668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ff00::/8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446684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replaces broadcast entirely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91456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Loopback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3154680" y="4809744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::1/128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14400" y="5074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localhost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14400" y="5399532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Unspecified / default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3154680" y="54178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:: · ::/0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14400" y="568299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bind-to-all (::)  ·  default route ::/0  (= 0/0)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6720840" y="1783080"/>
            <a:ext cx="4846320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6949440" y="19659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THE /64 CONVENTION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949440" y="233172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Host / LAN subnets are /64 — because SLAAC needs the lower 64 bits for the host.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6949440" y="301752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2001:db8:acd2 : 0017 :: / 64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6949440" y="3456432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◄ 48: global prefix ►  ◄16: subnet►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lower 64 bits = interface ID (the host)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949440" y="422452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1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...but it's a convention, not a law: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6949440" y="4553712"/>
            <a:ext cx="4480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Point-to-point links → often </a:t>
            </a:r>
            <a:r>
              <a:rPr lang="en-US" sz="125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/127</a:t>
            </a:r>
            <a:r>
              <a:rPr lang="en-US" sz="11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  (RFC 6164)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Loopbacks / single hosts → </a:t>
            </a:r>
            <a:r>
              <a:rPr lang="en-US" sz="1250" b="1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/128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6949440" y="5349240"/>
            <a:ext cx="4480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DevOps payoff: for LANs, subnet sizing leaves your IaC — Terraform just templates a /64.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00:18 · AUTO-CONFIGURATION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How a host actually gets its address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640080" y="1783080"/>
            <a:ext cx="3584448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SLAAC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914400" y="248716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Stateless Address Auto-config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914400" y="3063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The host asks “any routers here?” (Router Solicitation); the router replies with the /64 prefix (Router Advertisement). The host builds its own address: prefix + its own interface ID. No server, no lease — it just works.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914400" y="50749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Hosts self-address at scale — no DHCP infra to run or break.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4352544" y="1783080"/>
            <a:ext cx="3584448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626864" y="2011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DHCPv6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626864" y="248716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Stateful assignment (when you want it)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4626864" y="3063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 central server hands out addresses and options (DNS, etc.) and tracks who has what — just like IPv4 DHCP. Often paired with SLAAC: prefix via RA, DNS via DHCPv6.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4626864" y="50749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Use when you need managed, audited, centrally-controlled assignment.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8065008" y="1783080"/>
            <a:ext cx="3584448" cy="42519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8339328" y="20116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NDP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8339328" y="2487168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Neighbor Discovery — ARP's replacement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8339328" y="3063240"/>
            <a:ext cx="310896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Runs over ICMPv6 + multicast. Finds neighbors on the link, detects duplicate addresses, and tracks reachability. There's no ARP and no broadcast in IPv6.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8339328" y="507492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It's the “neighbor table” you'll inspect in the lab after a ping.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40080" y="6172200"/>
            <a:ext cx="10927080" cy="50292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914400" y="62544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Typical boot flow:   </a:t>
            </a: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host sends RS  →  router answers RA (prefix)  →  host forms address via SLAAC  →  NDP checks it's unique &amp; finds the gateway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00:23 · DEVOPS IMPACT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What actually changes for infrastructure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640080" y="1783080"/>
            <a:ext cx="182880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 txBox="1"/>
          <p:nvPr/>
        </p:nvSpPr>
        <p:spPr>
          <a:xfrm>
            <a:off x="758952" y="1856231"/>
            <a:ext cx="1591056" cy="3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/>
          </a:p>
        </p:txBody>
      </p:sp>
      <p:sp>
        <p:nvSpPr>
          <p:cNvPr id="228" name="Google Shape;228;p19"/>
          <p:cNvSpPr/>
          <p:nvPr/>
        </p:nvSpPr>
        <p:spPr>
          <a:xfrm>
            <a:off x="2468880" y="1783080"/>
            <a:ext cx="320040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2587752" y="1856231"/>
            <a:ext cx="2962656" cy="3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IPv4</a:t>
            </a:r>
            <a:endParaRPr/>
          </a:p>
        </p:txBody>
      </p:sp>
      <p:sp>
        <p:nvSpPr>
          <p:cNvPr id="230" name="Google Shape;230;p19"/>
          <p:cNvSpPr/>
          <p:nvPr/>
        </p:nvSpPr>
        <p:spPr>
          <a:xfrm>
            <a:off x="5669280" y="1783080"/>
            <a:ext cx="306324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5788152" y="1856231"/>
            <a:ext cx="2825496" cy="3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IPv6</a:t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8732520" y="1783080"/>
            <a:ext cx="315468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 txBox="1"/>
          <p:nvPr/>
        </p:nvSpPr>
        <p:spPr>
          <a:xfrm>
            <a:off x="8851392" y="1856231"/>
            <a:ext cx="2916936" cy="3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DevOps impact</a:t>
            </a:r>
            <a:endParaRPr/>
          </a:p>
        </p:txBody>
      </p:sp>
      <p:sp>
        <p:nvSpPr>
          <p:cNvPr id="234" name="Google Shape;234;p19"/>
          <p:cNvSpPr/>
          <p:nvPr/>
        </p:nvSpPr>
        <p:spPr>
          <a:xfrm>
            <a:off x="640080" y="2286000"/>
            <a:ext cx="1828800" cy="896112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758952" y="2359152"/>
            <a:ext cx="159105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NAT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2468880" y="2286000"/>
            <a:ext cx="3200400" cy="896112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2587752" y="2359152"/>
            <a:ext cx="296265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Mandatory for private nodes to reach out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5669280" y="2286000"/>
            <a:ext cx="3063240" cy="896112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5788152" y="2359152"/>
            <a:ext cx="282549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Not needed — nodes hold global addresses</a:t>
            </a:r>
            <a:endParaRPr/>
          </a:p>
        </p:txBody>
      </p:sp>
      <p:sp>
        <p:nvSpPr>
          <p:cNvPr id="240" name="Google Shape;240;p19"/>
          <p:cNvSpPr/>
          <p:nvPr/>
        </p:nvSpPr>
        <p:spPr>
          <a:xfrm>
            <a:off x="8732520" y="2286000"/>
            <a:ext cx="3154680" cy="896112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8851392" y="2359152"/>
            <a:ext cx="2916936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No NAT gateways, egress proxies, or CIDR overlap</a:t>
            </a:r>
            <a:endParaRPr/>
          </a:p>
        </p:txBody>
      </p:sp>
      <p:sp>
        <p:nvSpPr>
          <p:cNvPr id="242" name="Google Shape;242;p19"/>
          <p:cNvSpPr/>
          <p:nvPr/>
        </p:nvSpPr>
        <p:spPr>
          <a:xfrm>
            <a:off x="640080" y="3182112"/>
            <a:ext cx="182880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758952" y="3255264"/>
            <a:ext cx="159105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/>
          </a:p>
        </p:txBody>
      </p:sp>
      <p:sp>
        <p:nvSpPr>
          <p:cNvPr id="244" name="Google Shape;244;p19"/>
          <p:cNvSpPr/>
          <p:nvPr/>
        </p:nvSpPr>
        <p:spPr>
          <a:xfrm>
            <a:off x="2468880" y="3182112"/>
            <a:ext cx="320040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2587752" y="3255264"/>
            <a:ext cx="296265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Variable length, options → more parsing</a:t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5669280" y="3182112"/>
            <a:ext cx="306324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5788152" y="3255264"/>
            <a:ext cx="282549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Fixed 40-byte header, streamlined</a:t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8732520" y="3182112"/>
            <a:ext cx="315468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8851392" y="3255264"/>
            <a:ext cx="291693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Faster, more predictable routing &amp; firewalls</a:t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640080" y="4041648"/>
            <a:ext cx="1828800" cy="822960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758952" y="4114800"/>
            <a:ext cx="159105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Subnetting</a:t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2468880" y="4041648"/>
            <a:ext cx="3200400" cy="822960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2587752" y="4114800"/>
            <a:ext cx="296265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VLSM math: /24, /27, /30 …</a:t>
            </a:r>
            <a:endParaRPr/>
          </a:p>
        </p:txBody>
      </p:sp>
      <p:sp>
        <p:nvSpPr>
          <p:cNvPr id="254" name="Google Shape;254;p19"/>
          <p:cNvSpPr/>
          <p:nvPr/>
        </p:nvSpPr>
        <p:spPr>
          <a:xfrm>
            <a:off x="5669280" y="4041648"/>
            <a:ext cx="3063240" cy="822960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788152" y="4114800"/>
            <a:ext cx="282549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Standard /64 per LAN</a:t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8732520" y="4041648"/>
            <a:ext cx="3154680" cy="822960"/>
          </a:xfrm>
          <a:prstGeom prst="rect">
            <a:avLst/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8851392" y="4114800"/>
            <a:ext cx="2916936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Subnet sizing drops out of IaC templates</a:t>
            </a:r>
            <a:endParaRPr/>
          </a:p>
        </p:txBody>
      </p:sp>
      <p:sp>
        <p:nvSpPr>
          <p:cNvPr id="258" name="Google Shape;258;p19"/>
          <p:cNvSpPr/>
          <p:nvPr/>
        </p:nvSpPr>
        <p:spPr>
          <a:xfrm>
            <a:off x="640080" y="4864608"/>
            <a:ext cx="182880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758952" y="4937760"/>
            <a:ext cx="159105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260" name="Google Shape;260;p19"/>
          <p:cNvSpPr/>
          <p:nvPr/>
        </p:nvSpPr>
        <p:spPr>
          <a:xfrm>
            <a:off x="2468880" y="4864608"/>
            <a:ext cx="320040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2587752" y="4937760"/>
            <a:ext cx="296265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IPsec optional, bolted on</a:t>
            </a:r>
            <a:endParaRPr/>
          </a:p>
        </p:txBody>
      </p:sp>
      <p:sp>
        <p:nvSpPr>
          <p:cNvPr id="262" name="Google Shape;262;p19"/>
          <p:cNvSpPr/>
          <p:nvPr/>
        </p:nvSpPr>
        <p:spPr>
          <a:xfrm>
            <a:off x="5669280" y="4864608"/>
            <a:ext cx="306324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5788152" y="4937760"/>
            <a:ext cx="282549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IPsec standardized in design*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8732520" y="4864608"/>
            <a:ext cx="3154680" cy="859536"/>
          </a:xfrm>
          <a:prstGeom prst="rect">
            <a:avLst/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8851392" y="4937760"/>
            <a:ext cx="2916936" cy="73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Cleaner baseline — but SGs/firewalls still rule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640080" y="60807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* IPsec was a MUST in early specs, relaxed to SHOULD in RFC 6434 — it's standardized &amp; consistent, but not auto-on.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00:29 · SECURITY</a:t>
            </a:r>
            <a:endParaRPr/>
          </a:p>
        </p:txBody>
      </p:sp>
      <p:sp>
        <p:nvSpPr>
          <p:cNvPr id="274" name="Google Shape;274;p20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Dismantling the fear: routable ≠ reachable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640080" y="1737360"/>
            <a:ext cx="10972800" cy="91440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914400" y="1874519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Core axiom:  </a:t>
            </a:r>
            <a:r>
              <a:rPr lang="en-US" sz="180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 globally unique address is not an open door. Reachability is a policy decision.</a:t>
            </a:r>
            <a:endParaRPr/>
          </a:p>
        </p:txBody>
      </p:sp>
      <p:sp>
        <p:nvSpPr>
          <p:cNvPr id="277" name="Google Shape;277;p20"/>
          <p:cNvSpPr/>
          <p:nvPr/>
        </p:nvSpPr>
        <p:spPr>
          <a:xfrm>
            <a:off x="640080" y="2834640"/>
            <a:ext cx="5394960" cy="3154680"/>
          </a:xfrm>
          <a:prstGeom prst="roundRect">
            <a:avLst>
              <a:gd name="adj" fmla="val 5000"/>
            </a:avLst>
          </a:prstGeom>
          <a:solidFill>
            <a:srgbClr val="2E18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THE NAT FALLACY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914400" y="340156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1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“Behind NAT, attackers can't reach me.”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914400" y="402336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NAT was address rationing, never a security control. Hiding source IPs actually hurts you — audit logs, service meshes, and tracing a compromised container all fight the translation layer.</a:t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6217920" y="2834640"/>
            <a:ext cx="5394960" cy="3154680"/>
          </a:xfrm>
          <a:prstGeom prst="roundRect">
            <a:avLst>
              <a:gd name="adj" fmla="val 5000"/>
            </a:avLst>
          </a:prstGeom>
          <a:solidFill>
            <a:srgbClr val="142A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6492240" y="3017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WHAT ACTUALLY PROTECTS YOU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6492240" y="3401568"/>
            <a:ext cx="493776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Stateful firewalls &amp; Security Groups drop unsolicited inbound by default — in v4 AND v6. A public IPv6 host is invisible if the policy drops inbound at the edge.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6492240" y="4892040"/>
            <a:ext cx="49377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And brute-force scanning is dead: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 /64 = 18.4 quintillion hosts → </a:t>
            </a:r>
            <a:r>
              <a:rPr lang="en-US" sz="18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~580,000 yrs</a:t>
            </a:r>
            <a:endParaRPr/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to scan at 1M/sec.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00:35 · SECURITY &amp; CLOUD</a:t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Privacy without NAT — and the dual-stack reality</a:t>
            </a:r>
            <a:endParaRPr/>
          </a:p>
        </p:txBody>
      </p:sp>
      <p:sp>
        <p:nvSpPr>
          <p:cNvPr id="293" name="Google Shape;293;p21"/>
          <p:cNvSpPr/>
          <p:nvPr/>
        </p:nvSpPr>
        <p:spPr>
          <a:xfrm>
            <a:off x="640080" y="178308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914400" y="194767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KEEP THE 'PRIVATE SUBNET' PATTERN</a:t>
            </a:r>
            <a:endParaRPr/>
          </a:p>
        </p:txBody>
      </p:sp>
      <p:sp>
        <p:nvSpPr>
          <p:cNvPr id="295" name="Google Shape;295;p21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8A98A8"/>
                </a:solidFill>
                <a:latin typeface="Calibri"/>
                <a:ea typeface="Calibri"/>
                <a:cs typeface="Calibri"/>
                <a:sym typeface="Calibri"/>
              </a:rPr>
              <a:t>IPv4:  </a:t>
            </a:r>
            <a:r>
              <a:rPr lang="en-US" sz="14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instance → NAT Gateway → internet</a:t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IPv6:  </a:t>
            </a:r>
            <a:r>
              <a:rPr lang="en-US" sz="13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instance → Egress-Only IGW → internet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914400" y="32461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Outbound the instance starts: allowed. Unsolicited inbound: dropped. Same isolation as NAT — no rewrite, no bottleneck, and the gateway is free on AWS.</a:t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6263640" y="1783080"/>
            <a:ext cx="5303520" cy="233172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 w="15875" cap="flat" cmpd="sng">
            <a:solidFill>
              <a:srgbClr val="FF6A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537960" y="194767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NOBODY FLIPS A SWITCH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537960" y="2331720"/>
            <a:ext cx="48463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The real world is dual-stack: v4 and v6 run side by side, services answering on both, for years — nobody turns IPv4 off overnight. Migration is incremental, and that's exactly what you'll build in the lab: one link, both families at once.</a:t>
            </a:r>
            <a:endParaRPr/>
          </a:p>
        </p:txBody>
      </p:sp>
      <p:sp>
        <p:nvSpPr>
          <p:cNvPr id="301" name="Google Shape;301;p21"/>
          <p:cNvSpPr/>
          <p:nvPr/>
        </p:nvSpPr>
        <p:spPr>
          <a:xfrm>
            <a:off x="640080" y="429768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896112" y="4498848"/>
            <a:ext cx="365760" cy="36576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/>
          </a:p>
        </p:txBody>
      </p:sp>
      <p:sp>
        <p:nvSpPr>
          <p:cNvPr id="303" name="Google Shape;303;p21"/>
          <p:cNvSpPr txBox="1"/>
          <p:nvPr/>
        </p:nvSpPr>
        <p:spPr>
          <a:xfrm>
            <a:off x="1371600" y="451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896112" y="49834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AWS, Azure &amp; GCP do IPv6 subnets, route tables &amp; LBs natively.</a:t>
            </a:r>
            <a:endParaRPr/>
          </a:p>
        </p:txBody>
      </p:sp>
      <p:sp>
        <p:nvSpPr>
          <p:cNvPr id="305" name="Google Shape;305;p21"/>
          <p:cNvSpPr/>
          <p:nvPr/>
        </p:nvSpPr>
        <p:spPr>
          <a:xfrm>
            <a:off x="4352544" y="429768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608576" y="4498848"/>
            <a:ext cx="365760" cy="36576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5084064" y="451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4608576" y="49834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Dual-stack built in — Pods get both a v4 and a v6 address.</a:t>
            </a:r>
            <a:endParaRPr/>
          </a:p>
        </p:txBody>
      </p:sp>
      <p:sp>
        <p:nvSpPr>
          <p:cNvPr id="309" name="Google Shape;309;p21"/>
          <p:cNvSpPr/>
          <p:nvPr/>
        </p:nvSpPr>
        <p:spPr>
          <a:xfrm>
            <a:off x="8065008" y="4297680"/>
            <a:ext cx="3584448" cy="173736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8321040" y="4498848"/>
            <a:ext cx="365760" cy="36576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◆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8796528" y="4517136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Your apps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8321040" y="498348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Cover BOTH families in every rule &amp; listener, or you leave a gap.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2" title="ipv6-ipv4-tim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673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00:40 · HANDS-ON LAB (20 MIN)</a:t>
            </a:r>
            <a:endParaRPr/>
          </a:p>
        </p:txBody>
      </p:sp>
      <p:sp>
        <p:nvSpPr>
          <p:cNvPr id="325" name="Google Shape;325;p2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Lab: a dual-stack link you build yourself</a:t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>
            <a:off x="640080" y="178308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 txBox="1"/>
          <p:nvPr/>
        </p:nvSpPr>
        <p:spPr>
          <a:xfrm>
            <a:off x="914400" y="20116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TOPOLOGY · containerlab + SR Linux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914400" y="26060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server-a              server-b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914400" y="2862072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ourier New"/>
                <a:ea typeface="Courier New"/>
                <a:cs typeface="Courier New"/>
                <a:sym typeface="Courier New"/>
              </a:rPr>
              <a:t> (lo0)                 (lo0)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914400" y="311810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   |                     |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914400" y="3374136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[srl1]===e1-1===[srl2]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914400" y="3977639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FA552"/>
                </a:solidFill>
                <a:latin typeface="Courier New"/>
                <a:ea typeface="Courier New"/>
                <a:cs typeface="Courier New"/>
                <a:sym typeface="Courier New"/>
              </a:rPr>
              <a:t>2001:db8:12::/64  +  192.168.12.0/30</a:t>
            </a:r>
            <a:endParaRPr/>
          </a:p>
        </p:txBody>
      </p:sp>
      <p:sp>
        <p:nvSpPr>
          <p:cNvPr id="333" name="Google Shape;333;p23"/>
          <p:cNvSpPr txBox="1"/>
          <p:nvPr/>
        </p:nvSpPr>
        <p:spPr>
          <a:xfrm>
            <a:off x="914400" y="452628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9AA6B4"/>
                </a:solidFill>
                <a:latin typeface="Calibri"/>
                <a:ea typeface="Calibri"/>
                <a:cs typeface="Calibri"/>
                <a:sym typeface="Calibri"/>
              </a:rPr>
              <a:t>Two SR Linux routers, one dual-stack link, two 'server' subnets to connect.</a:t>
            </a:r>
            <a:endParaRPr/>
          </a:p>
        </p:txBody>
      </p:sp>
      <p:sp>
        <p:nvSpPr>
          <p:cNvPr id="334" name="Google Shape;334;p23"/>
          <p:cNvSpPr/>
          <p:nvPr/>
        </p:nvSpPr>
        <p:spPr>
          <a:xfrm>
            <a:off x="6263640" y="178308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YOU WILL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6537960" y="2578608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7022592" y="2542032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Deploy the topology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6537960" y="3145536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7022592" y="31089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Configure a dual-stack interface (v4 + v6)</a:t>
            </a:r>
            <a:endParaRPr/>
          </a:p>
        </p:txBody>
      </p:sp>
      <p:sp>
        <p:nvSpPr>
          <p:cNvPr id="340" name="Google Shape;340;p23"/>
          <p:cNvSpPr/>
          <p:nvPr/>
        </p:nvSpPr>
        <p:spPr>
          <a:xfrm>
            <a:off x="6537960" y="3712463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7022592" y="3675888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Read the address SR Linux abbreviates for you</a:t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6537960" y="4279392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7022592" y="4242816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Inspect the neighbor (ND) table — ARP's replacement</a:t>
            </a:r>
            <a:endParaRPr/>
          </a:p>
        </p:txBody>
      </p:sp>
      <p:sp>
        <p:nvSpPr>
          <p:cNvPr id="344" name="Google Shape;344;p23"/>
          <p:cNvSpPr/>
          <p:nvPr/>
        </p:nvSpPr>
        <p:spPr>
          <a:xfrm>
            <a:off x="6537960" y="4846320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7022592" y="4809744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Add static routes &amp; ping across the fabric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6537960" y="5413248"/>
            <a:ext cx="329184" cy="329184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7022592" y="5376672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Prove routable ≠ reachable with an ACL (bonus)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00:58 · WRAP-UP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What to remember tomorrow</a:t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640080" y="1783080"/>
            <a:ext cx="6675120" cy="86868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4"/>
          <p:cNvSpPr/>
          <p:nvPr/>
        </p:nvSpPr>
        <p:spPr>
          <a:xfrm>
            <a:off x="850392" y="2011680"/>
            <a:ext cx="411480" cy="4114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1463040" y="188366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It's just more numbers</a:t>
            </a:r>
            <a:endParaRPr/>
          </a:p>
        </p:txBody>
      </p:sp>
      <p:sp>
        <p:nvSpPr>
          <p:cNvPr id="359" name="Google Shape;359;p24"/>
          <p:cNvSpPr txBox="1"/>
          <p:nvPr/>
        </p:nvSpPr>
        <p:spPr>
          <a:xfrm>
            <a:off x="1463040" y="224028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Two rules tame any address. Hex isn't the enemy.</a:t>
            </a:r>
            <a:endParaRPr/>
          </a:p>
        </p:txBody>
      </p:sp>
      <p:sp>
        <p:nvSpPr>
          <p:cNvPr id="360" name="Google Shape;360;p24"/>
          <p:cNvSpPr/>
          <p:nvPr/>
        </p:nvSpPr>
        <p:spPr>
          <a:xfrm>
            <a:off x="640080" y="2743200"/>
            <a:ext cx="6675120" cy="86868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850392" y="2971800"/>
            <a:ext cx="411480" cy="4114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62" name="Google Shape;362;p24"/>
          <p:cNvSpPr txBox="1"/>
          <p:nvPr/>
        </p:nvSpPr>
        <p:spPr>
          <a:xfrm>
            <a:off x="1463040" y="284378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No more NAT tax</a:t>
            </a:r>
            <a:endParaRPr/>
          </a:p>
        </p:txBody>
      </p:sp>
      <p:sp>
        <p:nvSpPr>
          <p:cNvPr id="363" name="Google Shape;363;p24"/>
          <p:cNvSpPr txBox="1"/>
          <p:nvPr/>
        </p:nvSpPr>
        <p:spPr>
          <a:xfrm>
            <a:off x="1463040" y="32004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Global addresses + egress-only gateways = privacy, no translation.</a:t>
            </a:r>
            <a:endParaRPr/>
          </a:p>
        </p:txBody>
      </p:sp>
      <p:sp>
        <p:nvSpPr>
          <p:cNvPr id="364" name="Google Shape;364;p24"/>
          <p:cNvSpPr/>
          <p:nvPr/>
        </p:nvSpPr>
        <p:spPr>
          <a:xfrm>
            <a:off x="640080" y="3703320"/>
            <a:ext cx="6675120" cy="86868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850392" y="3931920"/>
            <a:ext cx="411480" cy="4114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1463040" y="380390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Routable ≠ reachable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1463040" y="416052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Security is the firewall / Security Group, never IP hiding.</a:t>
            </a: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40080" y="4663440"/>
            <a:ext cx="6675120" cy="868680"/>
          </a:xfrm>
          <a:prstGeom prst="roundRect">
            <a:avLst>
              <a:gd name="adj" fmla="val 5000"/>
            </a:avLst>
          </a:prstGeom>
          <a:solidFill>
            <a:srgbClr val="1C21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850392" y="4892040"/>
            <a:ext cx="411480" cy="411480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C0E1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1463040" y="4764024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Design for dual-stack</a:t>
            </a:r>
            <a:endParaRPr/>
          </a:p>
        </p:txBody>
      </p:sp>
      <p:sp>
        <p:nvSpPr>
          <p:cNvPr id="371" name="Google Shape;371;p24"/>
          <p:cNvSpPr txBox="1"/>
          <p:nvPr/>
        </p:nvSpPr>
        <p:spPr>
          <a:xfrm>
            <a:off x="1463040" y="512064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4F6FA"/>
                </a:solidFill>
                <a:latin typeface="Calibri"/>
                <a:ea typeface="Calibri"/>
                <a:cs typeface="Calibri"/>
                <a:sym typeface="Calibri"/>
              </a:rPr>
              <a:t>Both families, every rule &amp; listener — cloud and k8s already are.</a:t>
            </a:r>
            <a:endParaRPr/>
          </a:p>
        </p:txBody>
      </p:sp>
      <p:sp>
        <p:nvSpPr>
          <p:cNvPr id="372" name="Google Shape;372;p24"/>
          <p:cNvSpPr/>
          <p:nvPr/>
        </p:nvSpPr>
        <p:spPr>
          <a:xfrm>
            <a:off x="7498079" y="1783080"/>
            <a:ext cx="4069080" cy="3886200"/>
          </a:xfrm>
          <a:prstGeom prst="roundRect">
            <a:avLst>
              <a:gd name="adj" fmla="val 5000"/>
            </a:avLst>
          </a:prstGeom>
          <a:solidFill>
            <a:srgbClr val="242B3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4"/>
          <p:cNvSpPr txBox="1"/>
          <p:nvPr/>
        </p:nvSpPr>
        <p:spPr>
          <a:xfrm>
            <a:off x="7726679" y="1965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6A00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/>
          </a:p>
        </p:txBody>
      </p:sp>
      <p:sp>
        <p:nvSpPr>
          <p:cNvPr id="374" name="Google Shape;374;p24"/>
          <p:cNvSpPr txBox="1"/>
          <p:nvPr/>
        </p:nvSpPr>
        <p:spPr>
          <a:xfrm>
            <a:off x="7726679" y="23774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Cloud docs</a:t>
            </a:r>
            <a:endParaRPr/>
          </a:p>
        </p:txBody>
      </p:sp>
      <p:sp>
        <p:nvSpPr>
          <p:cNvPr id="375" name="Google Shape;375;p24"/>
          <p:cNvSpPr txBox="1"/>
          <p:nvPr/>
        </p:nvSpPr>
        <p:spPr>
          <a:xfrm>
            <a:off x="7726679" y="2651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AWS / Azure / GCP 'IPv6 VPC'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7726679" y="30358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Kubernetes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7726679" y="331012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kubernetes.io dual-stack</a:t>
            </a:r>
            <a:endParaRPr/>
          </a:p>
        </p:txBody>
      </p:sp>
      <p:sp>
        <p:nvSpPr>
          <p:cNvPr id="378" name="Google Shape;378;p24"/>
          <p:cNvSpPr txBox="1"/>
          <p:nvPr/>
        </p:nvSpPr>
        <p:spPr>
          <a:xfrm>
            <a:off x="7726679" y="369417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/>
          </a:p>
        </p:txBody>
      </p:sp>
      <p:sp>
        <p:nvSpPr>
          <p:cNvPr id="379" name="Google Shape;379;p24"/>
          <p:cNvSpPr txBox="1"/>
          <p:nvPr/>
        </p:nvSpPr>
        <p:spPr>
          <a:xfrm>
            <a:off x="7726679" y="3968496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containerlab.dev · SR Linux docs</a:t>
            </a:r>
            <a:endParaRPr/>
          </a:p>
        </p:txBody>
      </p:sp>
      <p:sp>
        <p:nvSpPr>
          <p:cNvPr id="380" name="Google Shape;380;p24"/>
          <p:cNvSpPr txBox="1"/>
          <p:nvPr/>
        </p:nvSpPr>
        <p:spPr>
          <a:xfrm>
            <a:off x="7726679" y="4352544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Standards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7726679" y="4626864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RFC 4291 · 4861 · 6434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7726679" y="501091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A552"/>
                </a:solidFill>
                <a:latin typeface="Calibri"/>
                <a:ea typeface="Calibri"/>
                <a:cs typeface="Calibri"/>
                <a:sym typeface="Calibri"/>
              </a:rPr>
              <a:t>Linux</a:t>
            </a:r>
            <a:endParaRPr/>
          </a:p>
        </p:txBody>
      </p:sp>
      <p:sp>
        <p:nvSpPr>
          <p:cNvPr id="383" name="Google Shape;383;p24"/>
          <p:cNvSpPr txBox="1"/>
          <p:nvPr/>
        </p:nvSpPr>
        <p:spPr>
          <a:xfrm>
            <a:off x="7726679" y="5285231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4F6FA"/>
                </a:solidFill>
                <a:latin typeface="Courier New"/>
                <a:ea typeface="Courier New"/>
                <a:cs typeface="Courier New"/>
                <a:sym typeface="Courier New"/>
              </a:rPr>
              <a:t>ip -6 addr · ip -6 route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1831</Words>
  <Application>Microsoft Macintosh PowerPoint</Application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Drew Elliott</cp:lastModifiedBy>
  <cp:revision>1</cp:revision>
  <dcterms:modified xsi:type="dcterms:W3CDTF">2026-07-20T23:09:15Z</dcterms:modified>
</cp:coreProperties>
</file>